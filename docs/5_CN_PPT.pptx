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753600" cy="7315200"/>
  <p:notesSz cx="6858000" cy="9144000"/>
  <p:embeddedFontLs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 — NETSENTRY</a:t>
            </a:r>
          </a:p>
          <a:p>
            <a:r>
              <a:rPr lang="en-US"/>
              <a:t>15 seconds</a:t>
            </a:r>
          </a:p>
          <a:p>
            <a:r>
              <a:rPr lang="en-US"/>
              <a:t/>
            </a:r>
          </a:p>
          <a:p>
            <a:r>
              <a:rPr lang="en-US"/>
              <a:t>“Greetings, respected faculty and everyone. Our mini-project is NETSENTRY, which stands for Network Traffic Intelligence and Intrusion Response. It demonstrates how network events can be processed, suspicious patterns detected, and incidents reviewed through a dashboard.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Slide 4 — Implementation and Working</a:t>
            </a:r>
          </a:p>
          <a:p>
            <a:r>
              <a:rPr lang="en-US"/>
              <a:t>55 seconds</a:t>
            </a:r>
          </a:p>
          <a:p>
            <a:r>
              <a:rPr lang="en-US"/>
              <a:t/>
            </a:r>
          </a:p>
          <a:p>
            <a:r>
              <a:rPr lang="en-US"/>
              <a:t>“The implementation follows an event-to-incident pipeline.</a:t>
            </a:r>
          </a:p>
          <a:p>
            <a:r>
              <a:rPr lang="en-US"/>
              <a:t/>
            </a:r>
          </a:p>
          <a:p>
            <a:r>
              <a:rPr lang="en-US"/>
              <a:t>First, the user selects a simulation scenario and the number of events. The frontend sends this information as a JSON payload to the FastAPI endpoint. The backend validates the request and passes it to the simulation engine.</a:t>
            </a:r>
          </a:p>
          <a:p>
            <a:r>
              <a:rPr lang="en-US"/>
              <a:t/>
            </a:r>
          </a:p>
          <a:p>
            <a:r>
              <a:rPr lang="en-US"/>
              <a:t>The engine generates timestamped synthetic events and applies scenario-specific rules. For example, a port-scan rule checks destination-port diversity, while an outbound-traffic rule checks the total number of bytes.</a:t>
            </a:r>
          </a:p>
          <a:p>
            <a:r>
              <a:rPr lang="en-US"/>
              <a:t/>
            </a:r>
          </a:p>
          <a:p>
            <a:r>
              <a:rPr lang="en-US"/>
              <a:t>When a rule matches, the system creates a detection with associated evidence and severity. The dashboard then retrieves the updated events, incidents, and metrics.</a:t>
            </a:r>
          </a:p>
          <a:p>
            <a:r>
              <a:rPr lang="en-US"/>
              <a:t/>
            </a:r>
          </a:p>
          <a:p>
            <a:r>
              <a:rPr lang="en-US"/>
              <a:t>We also implemented a response dry-run feature. It records the simulated response for auditing without modifying the actual host firewall.”</a:t>
            </a:r>
          </a:p>
          <a:p>
            <a:r>
              <a:rPr lang="en-US"/>
              <a:t>Slide 5 — Testing and Results</a:t>
            </a:r>
          </a:p>
          <a:p>
            <a:r>
              <a:rPr lang="en-US"/>
              <a:t>50 seconds</a:t>
            </a:r>
          </a:p>
          <a:p>
            <a:r>
              <a:rPr lang="en-US"/>
              <a:t/>
            </a:r>
          </a:p>
          <a:p>
            <a:r>
              <a:rPr lang="en-US"/>
              <a:t>“We designed our tests to verify the event-generation and detection workflow.</a:t>
            </a:r>
          </a:p>
          <a:p>
            <a:r>
              <a:rPr lang="en-US"/>
              <a:t/>
            </a:r>
          </a:p>
          <a:p>
            <a:r>
              <a:rPr lang="en-US"/>
              <a:t>First, we run the port-scan scenario and inspect the diversity of destination ports. Next, we test SYN bursts and DNS spikes to check how event counts interact with the configured thresholds.</a:t>
            </a:r>
          </a:p>
          <a:p>
            <a:r>
              <a:rPr lang="en-US"/>
              <a:t/>
            </a:r>
          </a:p>
          <a:p>
            <a:r>
              <a:rPr lang="en-US"/>
              <a:t>We also test repeated authentication failures to examine the severity and supporting evidence of the resulting detection.</a:t>
            </a:r>
          </a:p>
          <a:p>
            <a:r>
              <a:rPr lang="en-US"/>
              <a:t/>
            </a:r>
          </a:p>
          <a:p>
            <a:r>
              <a:rPr lang="en-US"/>
              <a:t>Finally, we test the response dry-run and verify that an audit record is created without changing the host firewall.</a:t>
            </a:r>
          </a:p>
          <a:p>
            <a:r>
              <a:rPr lang="en-US"/>
              <a:t/>
            </a:r>
          </a:p>
          <a:p>
            <a:r>
              <a:rPr lang="en-US"/>
              <a:t>These tests evaluate the intended application behaviour. Since the project uses synthetic events, we are not claiming real-world intrusion-detection accuracy or measured performance benchmarks.”</a:t>
            </a:r>
          </a:p>
          <a:p>
            <a:r>
              <a:rPr lang="en-US"/>
              <a:t/>
            </a:r>
          </a:p>
          <a:p>
            <a:r>
              <a:rPr lang="en-US"/>
              <a:t>During the presentation: Show the actual dashboard results for at least one scenario. Explain the observed output rather than simply reading the test cases.</a:t>
            </a:r>
          </a:p>
          <a:p>
            <a:r>
              <a:rPr lang="en-US"/>
              <a:t>Slide 6 — Working Demonstration</a:t>
            </a:r>
          </a:p>
          <a:p>
            <a:r>
              <a:rPr lang="en-US"/>
              <a:t>65 seconds</a:t>
            </a:r>
          </a:p>
          <a:p>
            <a:r>
              <a:rPr lang="en-US"/>
              <a:t/>
            </a:r>
          </a:p>
          <a:p>
            <a:r>
              <a:rPr lang="en-US"/>
              <a:t>“Now I will demonstrate the complete workflow.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2 — Problem and Objectives</a:t>
            </a:r>
          </a:p>
          <a:p>
            <a:r>
              <a:rPr lang="en-US"/>
              <a:t>40 seconds</a:t>
            </a:r>
          </a:p>
          <a:p>
            <a:r>
              <a:rPr lang="en-US"/>
              <a:t/>
            </a:r>
          </a:p>
          <a:p>
            <a:r>
              <a:rPr lang="en-US"/>
              <a:t>“In a real network, a large number of events are generated continuously. Manually identifying suspicious activity from these events can be difficult. NETSENTRY demonstrates a simplified Security Operations Center workflow.</a:t>
            </a:r>
          </a:p>
          <a:p>
            <a:r>
              <a:rPr lang="en-US"/>
              <a:t/>
            </a:r>
          </a:p>
          <a:p>
            <a:r>
              <a:rPr lang="en-US"/>
              <a:t>Our system simulates six scenarios: port scanning, SYN bursts, DNS spikes, repeated authentication failures, unusual outbound data volume, and traffic spikes.</a:t>
            </a:r>
          </a:p>
          <a:p>
            <a:r>
              <a:rPr lang="en-US"/>
              <a:t/>
            </a:r>
          </a:p>
          <a:p>
            <a:r>
              <a:rPr lang="en-US"/>
              <a:t>The main objectives are to generate network-event records, apply rule-based detection, attach evidence to alerts, and display incidents through a dashboard and REST API. An important point is that our current project uses synthetic data rather than monitoring live network traffic.”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3 — Proposed Design and Tools</a:t>
            </a:r>
          </a:p>
          <a:p>
            <a:r>
              <a:rPr lang="en-US"/>
              <a:t>45 seconds</a:t>
            </a:r>
          </a:p>
          <a:p>
            <a:r>
              <a:rPr lang="en-US"/>
              <a:t/>
            </a:r>
          </a:p>
          <a:p>
            <a:r>
              <a:rPr lang="en-US"/>
              <a:t>“Our architecture follows the client–server model. The frontend is built using React and Vite, while the backend uses Python and FastAPI.</a:t>
            </a:r>
          </a:p>
          <a:p>
            <a:r>
              <a:rPr lang="en-US"/>
              <a:t/>
            </a:r>
          </a:p>
          <a:p>
            <a:r>
              <a:rPr lang="en-US"/>
              <a:t>The frontend communicates with the backend through HTTP requests and JSON data. The backend exposes REST endpoints for retrieving events, incidents, metrics, and running simulations.</a:t>
            </a:r>
          </a:p>
          <a:p>
            <a:r>
              <a:rPr lang="en-US"/>
              <a:t/>
            </a:r>
          </a:p>
          <a:p>
            <a:r>
              <a:rPr lang="en-US"/>
              <a:t>The frontend runs on port 5173, and the backend API runs on port 8000. FastAPI processes the requests and invokes the simulation engine, which generates events and evaluates detection rules.</a:t>
            </a:r>
          </a:p>
          <a:p>
            <a:r>
              <a:rPr lang="en-US"/>
              <a:t/>
            </a:r>
          </a:p>
          <a:p>
            <a:r>
              <a:rPr lang="en-US"/>
              <a:t>This architecture separates the user interface from the processing logic, making the application easier to maintain and extend.”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First, the user selects a simulation scenario and the number of events. The frontend sends this information as a JSON payload to the FastAPI endpoint. The backend validates the request and passes it to the simulation engine.</a:t>
            </a:r>
          </a:p>
          <a:p>
            <a:r>
              <a:rPr lang="en-US"/>
              <a:t/>
            </a:r>
          </a:p>
          <a:p>
            <a:r>
              <a:rPr lang="en-US"/>
              <a:t>The engine generates timestamped synthetic events and applies scenario-specific rules. For example, a port-scan rule checks destination-port diversity, while an outbound-traffic rule checks the total number of bytes.</a:t>
            </a:r>
          </a:p>
          <a:p>
            <a:r>
              <a:rPr lang="en-US"/>
              <a:t/>
            </a:r>
          </a:p>
          <a:p>
            <a:r>
              <a:rPr lang="en-US"/>
              <a:t>We also implemented a response dry-run feature. It records the simulated response for auditing without modifying the actual host firewall.”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First, we run the port-scan scenario and inspect the diversity of destination ports. Next, we test SYN bursts and DNS spikes to check how event counts interact with the configured thresholds.</a:t>
            </a:r>
          </a:p>
          <a:p>
            <a:r>
              <a:rPr lang="en-US"/>
              <a:t/>
            </a:r>
          </a:p>
          <a:p>
            <a:r>
              <a:rPr lang="en-US"/>
              <a:t>We also test repeated authentication failures to examine the severity and supporting evidence of the resulting detection.</a:t>
            </a:r>
          </a:p>
          <a:p>
            <a:r>
              <a:rPr lang="en-US"/>
              <a:t/>
            </a:r>
          </a:p>
          <a:p>
            <a:r>
              <a:rPr lang="en-US"/>
              <a:t>Finally, we test the response dry-run and verify that an audit record is created without changing the host firewall.</a:t>
            </a:r>
          </a:p>
          <a:p>
            <a:r>
              <a:rPr lang="en-US"/>
              <a:t/>
            </a:r>
          </a:p>
          <a:p>
            <a:r>
              <a:rPr lang="en-US"/>
              <a:t>These tests evaluate the intended application behaviour. Since the project uses synthetic events, we are not claiming real-world intrusion-detection accuracy or measured performance benchmarks.”</a:t>
            </a:r>
          </a:p>
          <a:p>
            <a:r>
              <a:rPr lang="en-US"/>
              <a:t/>
            </a:r>
          </a:p>
          <a:p>
            <a:r>
              <a:rPr lang="en-US"/>
              <a:t>During the presentation: Show the actual dashboard results for at least one scenario. Explain the observed output rather than simply reading the test cases.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243" y="1652273"/>
            <a:ext cx="8453123" cy="83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NETSENTRY: Network Traffic Intelligence and Intrusion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15 seconds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111094" y="372932"/>
            <a:ext cx="3531422" cy="1016003"/>
            <a:chOff x="0" y="0"/>
            <a:chExt cx="4708563" cy="1354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08525" cy="1354709"/>
            </a:xfrm>
            <a:custGeom>
              <a:avLst/>
              <a:gdLst/>
              <a:ahLst/>
              <a:cxnLst/>
              <a:rect r="r" b="b" t="t" l="l"/>
              <a:pathLst>
                <a:path h="1354709" w="4708525">
                  <a:moveTo>
                    <a:pt x="0" y="0"/>
                  </a:moveTo>
                  <a:lnTo>
                    <a:pt x="4708525" y="0"/>
                  </a:lnTo>
                  <a:lnTo>
                    <a:pt x="4708525" y="1354709"/>
                  </a:lnTo>
                  <a:lnTo>
                    <a:pt x="0" y="135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50243" y="2880998"/>
            <a:ext cx="8453123" cy="27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202020"/>
                </a:solidFill>
                <a:latin typeface="Arial Bold"/>
                <a:ea typeface="Arial Bold"/>
                <a:cs typeface="Arial Bold"/>
                <a:sym typeface="Arial Bold"/>
              </a:rPr>
              <a:t>Mini-project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243" y="3369945"/>
            <a:ext cx="8453123" cy="64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sz="176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Computer Networks Laboratory (CSE20110)</a:t>
            </a:r>
          </a:p>
          <a:p>
            <a:pPr algn="ctr">
              <a:lnSpc>
                <a:spcPts val="2112"/>
              </a:lnSpc>
            </a:pPr>
            <a:r>
              <a:rPr lang="en-US" sz="176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Department of Computer Engineering and 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243" y="4395473"/>
            <a:ext cx="84531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67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Ruturaj Parit - 1272250843  Tejas Jadhav - 1272250848</a:t>
            </a:r>
          </a:p>
          <a:p>
            <a:pPr algn="ctr">
              <a:lnSpc>
                <a:spcPts val="2015"/>
              </a:lnSpc>
            </a:pPr>
            <a:r>
              <a:rPr lang="en-US" sz="167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Rajas Patil - 1272250847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243" y="5462273"/>
            <a:ext cx="84531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Group 5   Panel E   Batch E2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Faculty: Dr. Swati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Academic Year: 2026–2027   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Presentation date: 22-10-2026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Problem and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40 seconds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243" y="1449067"/>
            <a:ext cx="8453123" cy="28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b="true">
                <a:solidFill>
                  <a:srgbClr val="202020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243" y="1957073"/>
            <a:ext cx="845312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Problem: R</a:t>
            </a: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aw network telemetry contains many events, making suspicious patterns difficult to identify manually. NETSENTRY models a lightweight SOC workflow: generate event records, evaluate explicit rules, correlate detections into incidents, and present evidence for review. It is a controlled simulation—not a live IDS.</a:t>
            </a:r>
          </a:p>
          <a:p>
            <a:pPr algn="l">
              <a:lnSpc>
                <a:spcPts val="194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0243" y="3430267"/>
            <a:ext cx="8453123" cy="28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b="true">
                <a:solidFill>
                  <a:srgbClr val="202020"/>
                </a:solidFill>
                <a:latin typeface="Arial Bold"/>
                <a:ea typeface="Arial Bold"/>
                <a:cs typeface="Arial Bold"/>
                <a:sym typeface="Arial Bold"/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243" y="3989070"/>
            <a:ext cx="8453123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1. Model six scenarios: port scan, SYN burst, DNS spike, repeated authentication failures, outbound-volume anomaly and traffic spike.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2. Apply rule-based thresholds and attach evidence (counts, ports or byte totals) to each detection.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3. Expose events, incidents, metrics and audit history through a dashboard and REST API.</a:t>
            </a:r>
          </a:p>
          <a:p>
            <a:pPr algn="l">
              <a:lnSpc>
                <a:spcPts val="194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3412" y="1803492"/>
            <a:ext cx="1381760" cy="760241"/>
            <a:chOff x="0" y="0"/>
            <a:chExt cx="511763" cy="281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763" cy="281571"/>
            </a:xfrm>
            <a:custGeom>
              <a:avLst/>
              <a:gdLst/>
              <a:ahLst/>
              <a:cxnLst/>
              <a:rect r="r" b="b" t="t" l="l"/>
              <a:pathLst>
                <a:path h="281571" w="511763">
                  <a:moveTo>
                    <a:pt x="123265" y="0"/>
                  </a:moveTo>
                  <a:lnTo>
                    <a:pt x="388498" y="0"/>
                  </a:lnTo>
                  <a:cubicBezTo>
                    <a:pt x="421190" y="0"/>
                    <a:pt x="452543" y="12987"/>
                    <a:pt x="475660" y="36103"/>
                  </a:cubicBezTo>
                  <a:cubicBezTo>
                    <a:pt x="498776" y="59220"/>
                    <a:pt x="511763" y="90573"/>
                    <a:pt x="511763" y="123265"/>
                  </a:cubicBezTo>
                  <a:lnTo>
                    <a:pt x="511763" y="158306"/>
                  </a:lnTo>
                  <a:cubicBezTo>
                    <a:pt x="511763" y="190998"/>
                    <a:pt x="498776" y="222351"/>
                    <a:pt x="475660" y="245467"/>
                  </a:cubicBezTo>
                  <a:cubicBezTo>
                    <a:pt x="452543" y="268584"/>
                    <a:pt x="421190" y="281571"/>
                    <a:pt x="388498" y="281571"/>
                  </a:cubicBezTo>
                  <a:lnTo>
                    <a:pt x="123265" y="281571"/>
                  </a:lnTo>
                  <a:cubicBezTo>
                    <a:pt x="90573" y="281571"/>
                    <a:pt x="59220" y="268584"/>
                    <a:pt x="36103" y="245467"/>
                  </a:cubicBezTo>
                  <a:cubicBezTo>
                    <a:pt x="12987" y="222351"/>
                    <a:pt x="0" y="190998"/>
                    <a:pt x="0" y="158306"/>
                  </a:cubicBezTo>
                  <a:lnTo>
                    <a:pt x="0" y="123265"/>
                  </a:lnTo>
                  <a:cubicBezTo>
                    <a:pt x="0" y="90573"/>
                    <a:pt x="12987" y="59220"/>
                    <a:pt x="36103" y="36103"/>
                  </a:cubicBezTo>
                  <a:cubicBezTo>
                    <a:pt x="59220" y="12987"/>
                    <a:pt x="90573" y="0"/>
                    <a:pt x="123265" y="0"/>
                  </a:cubicBezTo>
                  <a:close/>
                </a:path>
              </a:pathLst>
            </a:custGeom>
            <a:solidFill>
              <a:srgbClr val="C8D1D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11763" cy="29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Analyst / Browser React + Vite localhost:5173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2485172" y="2183613"/>
            <a:ext cx="60411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089284" y="1803492"/>
            <a:ext cx="1587442" cy="760241"/>
            <a:chOff x="0" y="0"/>
            <a:chExt cx="587941" cy="2815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7941" cy="281571"/>
            </a:xfrm>
            <a:custGeom>
              <a:avLst/>
              <a:gdLst/>
              <a:ahLst/>
              <a:cxnLst/>
              <a:rect r="r" b="b" t="t" l="l"/>
              <a:pathLst>
                <a:path h="281571" w="587941">
                  <a:moveTo>
                    <a:pt x="107294" y="0"/>
                  </a:moveTo>
                  <a:lnTo>
                    <a:pt x="480648" y="0"/>
                  </a:lnTo>
                  <a:cubicBezTo>
                    <a:pt x="509104" y="0"/>
                    <a:pt x="536394" y="11304"/>
                    <a:pt x="556516" y="31426"/>
                  </a:cubicBezTo>
                  <a:cubicBezTo>
                    <a:pt x="576637" y="51547"/>
                    <a:pt x="587941" y="78838"/>
                    <a:pt x="587941" y="107294"/>
                  </a:cubicBezTo>
                  <a:lnTo>
                    <a:pt x="587941" y="174277"/>
                  </a:lnTo>
                  <a:cubicBezTo>
                    <a:pt x="587941" y="202733"/>
                    <a:pt x="576637" y="230024"/>
                    <a:pt x="556516" y="250145"/>
                  </a:cubicBezTo>
                  <a:cubicBezTo>
                    <a:pt x="536394" y="270267"/>
                    <a:pt x="509104" y="281571"/>
                    <a:pt x="480648" y="281571"/>
                  </a:cubicBezTo>
                  <a:lnTo>
                    <a:pt x="107294" y="281571"/>
                  </a:lnTo>
                  <a:cubicBezTo>
                    <a:pt x="78838" y="281571"/>
                    <a:pt x="51547" y="270267"/>
                    <a:pt x="31426" y="250145"/>
                  </a:cubicBezTo>
                  <a:cubicBezTo>
                    <a:pt x="11304" y="230024"/>
                    <a:pt x="0" y="202733"/>
                    <a:pt x="0" y="174277"/>
                  </a:cubicBezTo>
                  <a:lnTo>
                    <a:pt x="0" y="107294"/>
                  </a:lnTo>
                  <a:cubicBezTo>
                    <a:pt x="0" y="78838"/>
                    <a:pt x="11304" y="51547"/>
                    <a:pt x="31426" y="31426"/>
                  </a:cubicBezTo>
                  <a:cubicBezTo>
                    <a:pt x="51547" y="11304"/>
                    <a:pt x="78838" y="0"/>
                    <a:pt x="107294" y="0"/>
                  </a:cubicBezTo>
                  <a:close/>
                </a:path>
              </a:pathLst>
            </a:custGeom>
            <a:solidFill>
              <a:srgbClr val="C8D1D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87941" cy="29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FastAPI REST API </a:t>
              </a:r>
            </a:p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localhost:8000</a:t>
              </a:r>
            </a:p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JSON over HTTP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Proposed Design and 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45 seconds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146" y="3255972"/>
            <a:ext cx="8453123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Architecture: React + Vite dashboard → HTTP/JSON REST requests → FastAPI endpoints → SimulationEngine → in-memory events, detections, incidents and audit records. The UI refreshes data through API calls; CORS permits the local Vite origins.</a:t>
            </a:r>
          </a:p>
          <a:p>
            <a:pPr algn="ctr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Tools: React, Vite, Python, FastAPI, Uvicorn.</a:t>
            </a:r>
          </a:p>
          <a:p>
            <a:pPr algn="ctr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Networking: HTTP request/response, JSON payloads, client–server separation, TCP/UDP/DNS represented in synthetic telemetry.</a:t>
            </a:r>
          </a:p>
          <a:p>
            <a:pPr algn="ctr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Endpoints: GET /api/health, /api/events, /api/incidents, /api/metrics; POST /api/simulations/run and /api/response/dry-run. Frontend :5173; API :8000.</a:t>
            </a:r>
          </a:p>
          <a:p>
            <a:pPr algn="ctr">
              <a:lnSpc>
                <a:spcPts val="1944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4676726" y="2183613"/>
            <a:ext cx="6054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5282223" y="1803492"/>
            <a:ext cx="1587442" cy="760241"/>
            <a:chOff x="0" y="0"/>
            <a:chExt cx="587941" cy="2815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7941" cy="281571"/>
            </a:xfrm>
            <a:custGeom>
              <a:avLst/>
              <a:gdLst/>
              <a:ahLst/>
              <a:cxnLst/>
              <a:rect r="r" b="b" t="t" l="l"/>
              <a:pathLst>
                <a:path h="281571" w="587941">
                  <a:moveTo>
                    <a:pt x="107294" y="0"/>
                  </a:moveTo>
                  <a:lnTo>
                    <a:pt x="480648" y="0"/>
                  </a:lnTo>
                  <a:cubicBezTo>
                    <a:pt x="509104" y="0"/>
                    <a:pt x="536394" y="11304"/>
                    <a:pt x="556516" y="31426"/>
                  </a:cubicBezTo>
                  <a:cubicBezTo>
                    <a:pt x="576637" y="51547"/>
                    <a:pt x="587941" y="78838"/>
                    <a:pt x="587941" y="107294"/>
                  </a:cubicBezTo>
                  <a:lnTo>
                    <a:pt x="587941" y="174277"/>
                  </a:lnTo>
                  <a:cubicBezTo>
                    <a:pt x="587941" y="202733"/>
                    <a:pt x="576637" y="230024"/>
                    <a:pt x="556516" y="250145"/>
                  </a:cubicBezTo>
                  <a:cubicBezTo>
                    <a:pt x="536394" y="270267"/>
                    <a:pt x="509104" y="281571"/>
                    <a:pt x="480648" y="281571"/>
                  </a:cubicBezTo>
                  <a:lnTo>
                    <a:pt x="107294" y="281571"/>
                  </a:lnTo>
                  <a:cubicBezTo>
                    <a:pt x="78838" y="281571"/>
                    <a:pt x="51547" y="270267"/>
                    <a:pt x="31426" y="250145"/>
                  </a:cubicBezTo>
                  <a:cubicBezTo>
                    <a:pt x="11304" y="230024"/>
                    <a:pt x="0" y="202733"/>
                    <a:pt x="0" y="174277"/>
                  </a:cubicBezTo>
                  <a:lnTo>
                    <a:pt x="0" y="107294"/>
                  </a:lnTo>
                  <a:cubicBezTo>
                    <a:pt x="0" y="78838"/>
                    <a:pt x="11304" y="51547"/>
                    <a:pt x="31426" y="31426"/>
                  </a:cubicBezTo>
                  <a:cubicBezTo>
                    <a:pt x="51547" y="11304"/>
                    <a:pt x="78838" y="0"/>
                    <a:pt x="107294" y="0"/>
                  </a:cubicBezTo>
                  <a:close/>
                </a:path>
              </a:pathLst>
            </a:custGeom>
            <a:solidFill>
              <a:srgbClr val="C8D1D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87941" cy="29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Simulation Engine Synthetic TCP / DNS</a:t>
              </a:r>
            </a:p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events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6869665" y="2183613"/>
            <a:ext cx="5649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7434638" y="1803492"/>
            <a:ext cx="1587442" cy="760241"/>
            <a:chOff x="0" y="0"/>
            <a:chExt cx="587941" cy="2815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7941" cy="281571"/>
            </a:xfrm>
            <a:custGeom>
              <a:avLst/>
              <a:gdLst/>
              <a:ahLst/>
              <a:cxnLst/>
              <a:rect r="r" b="b" t="t" l="l"/>
              <a:pathLst>
                <a:path h="281571" w="587941">
                  <a:moveTo>
                    <a:pt x="107294" y="0"/>
                  </a:moveTo>
                  <a:lnTo>
                    <a:pt x="480648" y="0"/>
                  </a:lnTo>
                  <a:cubicBezTo>
                    <a:pt x="509104" y="0"/>
                    <a:pt x="536394" y="11304"/>
                    <a:pt x="556516" y="31426"/>
                  </a:cubicBezTo>
                  <a:cubicBezTo>
                    <a:pt x="576637" y="51547"/>
                    <a:pt x="587941" y="78838"/>
                    <a:pt x="587941" y="107294"/>
                  </a:cubicBezTo>
                  <a:lnTo>
                    <a:pt x="587941" y="174277"/>
                  </a:lnTo>
                  <a:cubicBezTo>
                    <a:pt x="587941" y="202733"/>
                    <a:pt x="576637" y="230024"/>
                    <a:pt x="556516" y="250145"/>
                  </a:cubicBezTo>
                  <a:cubicBezTo>
                    <a:pt x="536394" y="270267"/>
                    <a:pt x="509104" y="281571"/>
                    <a:pt x="480648" y="281571"/>
                  </a:cubicBezTo>
                  <a:lnTo>
                    <a:pt x="107294" y="281571"/>
                  </a:lnTo>
                  <a:cubicBezTo>
                    <a:pt x="78838" y="281571"/>
                    <a:pt x="51547" y="270267"/>
                    <a:pt x="31426" y="250145"/>
                  </a:cubicBezTo>
                  <a:cubicBezTo>
                    <a:pt x="11304" y="230024"/>
                    <a:pt x="0" y="202733"/>
                    <a:pt x="0" y="174277"/>
                  </a:cubicBezTo>
                  <a:lnTo>
                    <a:pt x="0" y="107294"/>
                  </a:lnTo>
                  <a:cubicBezTo>
                    <a:pt x="0" y="78838"/>
                    <a:pt x="11304" y="51547"/>
                    <a:pt x="31426" y="31426"/>
                  </a:cubicBezTo>
                  <a:cubicBezTo>
                    <a:pt x="51547" y="11304"/>
                    <a:pt x="78838" y="0"/>
                    <a:pt x="107294" y="0"/>
                  </a:cubicBezTo>
                  <a:close/>
                </a:path>
              </a:pathLst>
            </a:custGeom>
            <a:solidFill>
              <a:srgbClr val="C8D1D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87941" cy="29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  <a:r>
                <a:rPr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Rule Detection Incidents + Audit In-Memory state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540210" y="1930566"/>
            <a:ext cx="494036" cy="9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  <a:spcBef>
                <a:spcPct val="0"/>
              </a:spcBef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 /JASON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51710" y="1930566"/>
            <a:ext cx="258368" cy="9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  <a:spcBef>
                <a:spcPct val="0"/>
              </a:spcBef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call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5141" y="1886115"/>
            <a:ext cx="394022" cy="18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"/>
              </a:lnSpc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rules + </a:t>
            </a:r>
          </a:p>
          <a:p>
            <a:pPr algn="ctr">
              <a:lnSpc>
                <a:spcPts val="720"/>
              </a:lnSpc>
              <a:spcBef>
                <a:spcPct val="0"/>
              </a:spcBef>
            </a:pPr>
            <a:r>
              <a:rPr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threshholds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991" y="1092203"/>
            <a:ext cx="8751617" cy="2319706"/>
          </a:xfrm>
          <a:custGeom>
            <a:avLst/>
            <a:gdLst/>
            <a:ahLst/>
            <a:cxnLst/>
            <a:rect r="r" b="b" t="t" l="l"/>
            <a:pathLst>
              <a:path h="2319706" w="8751617">
                <a:moveTo>
                  <a:pt x="0" y="0"/>
                </a:moveTo>
                <a:lnTo>
                  <a:pt x="8751618" y="0"/>
                </a:lnTo>
                <a:lnTo>
                  <a:pt x="8751618" y="2319706"/>
                </a:lnTo>
                <a:lnTo>
                  <a:pt x="0" y="2319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and Working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55 seconds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238" y="2923840"/>
            <a:ext cx="8453123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peline: (1) React sends scenario_id and event_count as JSON to POST /api/simulations/run.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(2) FastAPI validates the request (5–500 events) and calls SimulationEngine. 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(3) The engine creates timestamped synthetic records and applies scenario-specific rules. 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(4) Matches become detections/incidents with severity and evidence; metrics and audit entries are updated in memory.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(5) The dashboard fetches refreshed events, incidents and metrics.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Rule examples: port-scan detection checks destination-port diversity; SYN and DNS rules use event-count thresholds; egress detection checks total bytes. Response is a dry-run only.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Troubleshooting: If the UI reports “Failed to fetch”, verify the API health endpoint, start Uvicorn from the backend directory, and confirm the frontend origin is allowed by CORS.</a:t>
            </a:r>
          </a:p>
          <a:p>
            <a:pPr algn="l">
              <a:lnSpc>
                <a:spcPts val="194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243" y="453390"/>
            <a:ext cx="845312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Testing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1198747" y="1723136"/>
          <a:ext cx="8290560" cy="4421632"/>
        </p:xfrm>
        <a:graphic>
          <a:graphicData uri="http://schemas.openxmlformats.org/presentationml/2006/ole">
            <p:oleObj imgW="9944100" imgH="6070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50 seconds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Working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65 seconds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243" y="1560195"/>
            <a:ext cx="8453123" cy="27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02020"/>
                </a:solidFill>
                <a:latin typeface="Arial Bold"/>
                <a:ea typeface="Arial Bold"/>
                <a:cs typeface="Arial Bold"/>
                <a:sym typeface="Arial Bold"/>
              </a:rPr>
              <a:t>Function to demonstrate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243" y="2109473"/>
            <a:ext cx="845312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Demons</a:t>
            </a: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trate the complete event-to-incident pipeline, including rule evidence and safe response simulation.</a:t>
            </a:r>
          </a:p>
          <a:p>
            <a:pPr algn="l">
              <a:lnSpc>
                <a:spcPts val="201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9437" y="2946884"/>
            <a:ext cx="8453123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1. Start FastAPI in backend (127.0.0.1:8000), then run the Vite frontend (localhost:5173).</a:t>
            </a:r>
          </a:p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2. Open Simulation Lab; choose “Port-scan pattern” and set 40 events.</a:t>
            </a:r>
          </a:p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3. Run the scenario and inspect generated events, alert severity, evidence and incident timeline.</a:t>
            </a:r>
          </a:p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4. Open Incident Response and run the dry-run action; verify the audit record and unchanged host settings.</a:t>
            </a:r>
          </a:p>
          <a:p>
            <a:pPr algn="l">
              <a:lnSpc>
                <a:spcPts val="20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0238" y="4775684"/>
            <a:ext cx="84531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Success criterion: the simulation returns generated-event data; when the port-diversity rule is met, the dashboard shows a detection with rule evidence. Dry-run response is logged without changing the real firewall.</a:t>
            </a:r>
          </a:p>
          <a:p>
            <a:pPr algn="l">
              <a:lnSpc>
                <a:spcPts val="194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99437" y="3279788"/>
          <a:ext cx="8290560" cy="2423818"/>
        </p:xfrm>
        <a:graphic>
          <a:graphicData uri="http://schemas.openxmlformats.org/presentationml/2006/ole">
            <p:oleObj imgW="9944100" imgH="4076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Conclusion and Contributions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30 seconds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9437" y="1241763"/>
            <a:ext cx="8453123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Outcome: NETSENTRY demonstrates a modular client–server security-monitoring pipeline, from synthetic event generation to explainable rule-based alerts.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Application: teaching REST APIs, event processing, threshold detection and incident-response workflows.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Limitations: synthetic data only; in-memory state resets on restart; simple rules may cause false positives; no live packet capture, authentication or persistent database.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Future scope: add authorized packet capture, configurable rule windows, persistent storage, user authentication and evaluation on labelled traffic.</a:t>
            </a:r>
          </a:p>
          <a:p>
            <a:pPr algn="l">
              <a:lnSpc>
                <a:spcPts val="19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243" y="453390"/>
            <a:ext cx="8453123" cy="6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720" b="true">
                <a:solidFill>
                  <a:srgbClr val="20375C"/>
                </a:solidFill>
                <a:latin typeface="Arial Bold"/>
                <a:ea typeface="Arial Bold"/>
                <a:cs typeface="Arial Bold"/>
                <a:sym typeface="Arial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243" y="6762750"/>
            <a:ext cx="61163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Computer Networks Laboratory   CSE20110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03443" y="6762750"/>
            <a:ext cx="1849117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Backup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243" y="1652273"/>
            <a:ext cx="8453123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[1] FastAPI, “FastAPI Documentation.” https://fastapi.tiangolo.com/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[2] React, “React Documentation.” https://react.dev/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[3] Vite, “Vite Guide.” https://vite.dev/guide/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[4] Python Software Foundation, “Python Documentation.” https://docs.python.org/3/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[5] NETSENTRY project source: backend/app/main.py, backend/app/engine.py and frontend/src/App.jsx (accessed 22 Oct. 2026).</a:t>
            </a:r>
          </a:p>
          <a:p>
            <a:pPr algn="l">
              <a:lnSpc>
                <a:spcPts val="194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DAHYvrgQ8Ng</dc:identifier>
  <dcterms:modified xsi:type="dcterms:W3CDTF">2011-08-01T06:04:30Z</dcterms:modified>
  <cp:revision>1</cp:revision>
  <dc:title>NETSENTRY: Network Traffic Intelligence and Intrusion Detection</dc:title>
</cp:coreProperties>
</file>